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7"/>
  </p:notesMasterIdLst>
  <p:sldIdLst>
    <p:sldId id="256" r:id="rId4"/>
    <p:sldId id="257" r:id="rId5"/>
    <p:sldId id="258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image" Target="../media/image2.png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0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image" Target="../media/image2.png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image" Target="../media/image2.png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35904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3" hasCustomPrompt="1"/>
            <p:custDataLst>
              <p:tags r:id="rId5"/>
            </p:custDataLst>
          </p:nvPr>
        </p:nvSpPr>
        <p:spPr>
          <a:xfrm>
            <a:off x="863918" y="1881664"/>
            <a:ext cx="4757261" cy="59769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6"/>
            </p:custDataLst>
          </p:nvPr>
        </p:nvSpPr>
        <p:spPr>
          <a:xfrm>
            <a:off x="863918" y="2593181"/>
            <a:ext cx="7071836" cy="123586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863918" y="3935730"/>
            <a:ext cx="1585913" cy="319564"/>
          </a:xfrm>
          <a:prstGeom prst="parallelogram">
            <a:avLst>
              <a:gd name="adj" fmla="val 45603"/>
            </a:avLst>
          </a:prstGeom>
          <a:gradFill>
            <a:gsLst>
              <a:gs pos="2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050" b="1" i="0" u="none" strike="noStrike" kern="1200" cap="none" spc="0" normalizeH="0" baseline="0" noProof="1" dirty="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 u="none" strike="noStrike" kern="1200" cap="none" spc="0" normalizeH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35904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952" y="2364581"/>
            <a:ext cx="6464300" cy="3636169"/>
          </a:xfrm>
          <a:prstGeom prst="rect">
            <a:avLst/>
          </a:prstGeom>
        </p:spPr>
      </p:pic>
      <p:cxnSp>
        <p:nvCxnSpPr>
          <p:cNvPr id="20" name="直接连接符 19"/>
          <p:cNvCxnSpPr/>
          <p:nvPr userDrawn="1">
            <p:custDataLst>
              <p:tags r:id="rId5"/>
            </p:custDataLst>
          </p:nvPr>
        </p:nvCxnSpPr>
        <p:spPr>
          <a:xfrm>
            <a:off x="7950518" y="1739741"/>
            <a:ext cx="740569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>
            <p:custDataLst>
              <p:tags r:id="rId6"/>
            </p:custDataLst>
          </p:nvPr>
        </p:nvCxnSpPr>
        <p:spPr>
          <a:xfrm>
            <a:off x="-952" y="2052161"/>
            <a:ext cx="9144953" cy="0"/>
          </a:xfrm>
          <a:prstGeom prst="line">
            <a:avLst/>
          </a:prstGeom>
          <a:ln w="3175">
            <a:solidFill>
              <a:schemeClr val="lt1">
                <a:alpha val="2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4772025" y="1255871"/>
            <a:ext cx="3999548" cy="4838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35904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5"/>
            </p:custDataLst>
          </p:nvPr>
        </p:nvSpPr>
        <p:spPr>
          <a:xfrm>
            <a:off x="805339" y="2008823"/>
            <a:ext cx="4221480" cy="8558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2400" b="0" i="0" u="none" strike="noStrike" kern="1200" cap="none" spc="0" normalizeH="0" baseline="0" noProof="1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dirty="0" err="1">
                <a:latin typeface="+mn-lt"/>
                <a:sym typeface="+mn-ea"/>
              </a:rPr>
              <a:t>Click to add text</a:t>
            </a:r>
            <a:endParaRPr dirty="0" err="1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805339" y="2933224"/>
            <a:ext cx="6421279" cy="219694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4050" b="0" i="0" u="none" strike="noStrike" kern="1200" cap="none" spc="0" normalizeH="0" baseline="0" noProof="1" dirty="0" err="1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u="none" strike="noStrike" kern="1200" cap="none" spc="0" normalizeH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6"/>
            </p:custDataLst>
          </p:nvPr>
        </p:nvSpPr>
        <p:spPr>
          <a:xfrm>
            <a:off x="521970" y="1833563"/>
            <a:ext cx="3992880" cy="3656888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4629150" y="1833563"/>
            <a:ext cx="3992880" cy="3656888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5593050"/>
            <a:ext cx="2025000" cy="2376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5593050"/>
            <a:ext cx="2025000" cy="2376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21732" y="1127250"/>
            <a:ext cx="8100298" cy="648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u="none" strike="noStrike" kern="1200" cap="none" spc="0" normalizeH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521970" y="183356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 u="none" strike="noStrike" kern="1200" cap="none" spc="0" normalizeH="0">
                <a:latin typeface="+mj-lt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521970" y="2263574"/>
            <a:ext cx="3992880" cy="3225207"/>
          </a:xfrm>
        </p:spPr>
        <p:txBody>
          <a:bodyPr wrap="square">
            <a:normAutofit/>
          </a:bodyPr>
          <a:lstStyle>
            <a:lvl1pPr>
              <a:defRPr sz="1650"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4629150" y="183356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 u="none" strike="noStrike" kern="1200" cap="none" spc="0" normalizeH="0">
                <a:latin typeface="+mj-lt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9"/>
            </p:custDataLst>
          </p:nvPr>
        </p:nvSpPr>
        <p:spPr>
          <a:xfrm>
            <a:off x="4629150" y="2263574"/>
            <a:ext cx="3992880" cy="3225207"/>
          </a:xfrm>
        </p:spPr>
        <p:txBody>
          <a:bodyPr wrap="square">
            <a:normAutofit/>
          </a:bodyPr>
          <a:lstStyle>
            <a:lvl1pPr>
              <a:defRPr sz="1650"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456248" y="1032986"/>
            <a:ext cx="8226743" cy="589598"/>
          </a:xfrm>
          <a:prstGeom prst="rect">
            <a:avLst/>
          </a:prstGeom>
          <a:noFill/>
        </p:spPr>
        <p:txBody>
          <a:bodyPr wrap="square" lIns="36195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521970" y="1127284"/>
            <a:ext cx="8101489" cy="4363403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21732" y="1127250"/>
            <a:ext cx="8099315" cy="64800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521970" y="1833563"/>
            <a:ext cx="8099316" cy="304165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 u="none" strike="noStrike" kern="1200" cap="none" spc="0" normalizeH="0">
                <a:latin typeface="+mj-lt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35904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/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5029201" y="857249"/>
            <a:ext cx="4114799" cy="231457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591003"/>
            <a:ext cx="7839551" cy="4409747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3" hasCustomPrompt="1"/>
            <p:custDataLst>
              <p:tags r:id="rId6"/>
            </p:custDataLst>
          </p:nvPr>
        </p:nvSpPr>
        <p:spPr>
          <a:xfrm>
            <a:off x="3778568" y="3986689"/>
            <a:ext cx="1585913" cy="319564"/>
          </a:xfrm>
          <a:prstGeom prst="parallelogram">
            <a:avLst>
              <a:gd name="adj" fmla="val 45603"/>
            </a:avLst>
          </a:prstGeom>
          <a:gradFill>
            <a:gsLst>
              <a:gs pos="26000">
                <a:schemeClr val="accent1">
                  <a:alpha val="12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2">
                    <a:alpha val="5000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050" b="1" i="0" u="none" strike="noStrike" kern="1200" cap="none" spc="0" normalizeH="0" baseline="0" noProof="1" dirty="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1347311" y="2356961"/>
            <a:ext cx="6704648" cy="113871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5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7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73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image" Target="../media/image3.png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12"/>
            </p:custDataLst>
          </p:nvPr>
        </p:nvSpPr>
        <p:spPr>
          <a:xfrm>
            <a:off x="0" y="857250"/>
            <a:ext cx="9135904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latin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 rotWithShape="1">
          <a:blip r:embed="rId14" cstate="print">
            <a:alphaModFix amt="56000"/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21"/>
          <a:stretch>
            <a:fillRect/>
          </a:stretch>
        </p:blipFill>
        <p:spPr>
          <a:xfrm>
            <a:off x="1044001" y="1127250"/>
            <a:ext cx="8100000" cy="4873500"/>
          </a:xfrm>
          <a:custGeom>
            <a:avLst/>
            <a:gdLst>
              <a:gd name="connsiteX0" fmla="*/ 0 w 7124699"/>
              <a:gd name="connsiteY0" fmla="*/ 0 h 4095750"/>
              <a:gd name="connsiteX1" fmla="*/ 7124699 w 7124699"/>
              <a:gd name="connsiteY1" fmla="*/ 0 h 4095750"/>
              <a:gd name="connsiteX2" fmla="*/ 7124699 w 7124699"/>
              <a:gd name="connsiteY2" fmla="*/ 4095750 h 4095750"/>
              <a:gd name="connsiteX3" fmla="*/ 0 w 7124699"/>
              <a:gd name="connsiteY3" fmla="*/ 4095750 h 409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24699" h="4095750">
                <a:moveTo>
                  <a:pt x="0" y="0"/>
                </a:moveTo>
                <a:lnTo>
                  <a:pt x="7124699" y="0"/>
                </a:lnTo>
                <a:lnTo>
                  <a:pt x="7124699" y="4095750"/>
                </a:lnTo>
                <a:lnTo>
                  <a:pt x="0" y="4095750"/>
                </a:lnTo>
                <a:close/>
              </a:path>
            </a:pathLst>
          </a:custGeom>
        </p:spPr>
      </p:pic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521970" y="5624513"/>
            <a:ext cx="20574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6565487" y="5624513"/>
            <a:ext cx="20574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18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标题占位符 2"/>
          <p:cNvSpPr txBox="1"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  <a:noFill/>
        </p:spPr>
        <p:txBody>
          <a:bodyPr vert="horz" wrap="square" lIns="36195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0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6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135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0" lang="en-US" sz="1350" b="0" i="0" u="none" strike="noStrike" kern="1200" cap="none" spc="0" normalizeH="0" baseline="0" noProof="1" dirty="0" smtClean="0">
          <a:ln>
            <a:noFill/>
            <a:prstDash val="sysDot"/>
          </a:ln>
          <a:solidFill>
            <a:srgbClr val="FFFFFF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  <a:lvl2pPr marL="514350" marR="0" indent="-171450" algn="l" defTabSz="685800" rtl="0" eaLnBrk="1" fontAlgn="auto" latinLnBrk="0" hangingPunct="1">
        <a:lnSpc>
          <a:spcPct val="12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•"/>
        <a:defRPr kumimoji="0" lang="en-US" sz="12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2pPr>
      <a:lvl3pPr marL="857250" marR="0" indent="-171450" algn="l" defTabSz="685800" rtl="0" eaLnBrk="1" fontAlgn="auto" latinLnBrk="0" hangingPunct="1">
        <a:lnSpc>
          <a:spcPct val="12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•"/>
        <a:defRPr kumimoji="0" lang="en-US" sz="12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3pPr>
      <a:lvl4pPr marL="1200150" marR="0" indent="-171450" algn="l" defTabSz="685800" rtl="0" eaLnBrk="1" fontAlgn="auto" latinLnBrk="0" hangingPunct="1">
        <a:lnSpc>
          <a:spcPct val="12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•"/>
        <a:defRPr kumimoji="0" lang="en-US" sz="12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4pPr>
      <a:lvl5pPr marL="1543050" marR="0" indent="-171450" algn="l" defTabSz="685800" rtl="0" eaLnBrk="1" fontAlgn="auto" latinLnBrk="0" hangingPunct="1">
        <a:lnSpc>
          <a:spcPct val="12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•"/>
        <a:defRPr kumimoji="0" lang="en-US" sz="12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2.xml"/><Relationship Id="rId3" Type="http://schemas.openxmlformats.org/officeDocument/2006/relationships/image" Target="../media/image4.png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5.xml"/><Relationship Id="rId3" Type="http://schemas.openxmlformats.org/officeDocument/2006/relationships/image" Target="../media/image5.png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" name="Shape 48"/>
          <p:cNvSpPr/>
          <p:nvPr>
            <p:custDataLst>
              <p:tags r:id="rId1"/>
            </p:custDataLst>
          </p:nvPr>
        </p:nvSpPr>
        <p:spPr>
          <a:xfrm>
            <a:off x="-20955" y="1390015"/>
            <a:ext cx="9173210" cy="2710815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457200" y="1278890"/>
            <a:ext cx="8235950" cy="313817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7200" y="1390015"/>
            <a:ext cx="8229600" cy="452596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200"/>
            </a:pPr>
            <a:r>
              <a: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Goal: classify sign language gestures from temporal hand-landmark sequences.</a:t>
            </a:r>
            <a:endParaRPr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800"/>
            </a:pPr>
            <a:r>
              <a: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per sample: (64 timesteps, 63 features = 21 landmarks x 3 coordinates).</a:t>
            </a:r>
            <a:endParaRPr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800"/>
            </a:pPr>
            <a:r>
              <a: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Classes (8): Hello, Thanks, Yes, No, I Love You, Please, Sorry, Help.</a:t>
            </a:r>
            <a:endParaRPr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800"/>
            </a:pPr>
            <a:r>
              <a: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source: custom NPZ (data/sign_sequences.npz) with fallback synthetic generator.</a:t>
            </a:r>
            <a:endParaRPr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800"/>
            </a:pPr>
            <a:r>
              <a: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adapts a HAR-style deep model to sign language recognition.</a:t>
            </a:r>
            <a:endParaRPr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172845"/>
            <a:ext cx="8100000" cy="540000"/>
          </a:xfrm>
          <a:noFill/>
        </p:spPr>
        <p:txBody>
          <a:bodyPr vert="horz" wrap="square" lIns="36195" tIns="0" rIns="91440" bIns="0" rtlCol="0" anchor="b" anchorCtr="0">
            <a:normAutofit/>
          </a:bodyPr>
          <a:lstStyle>
            <a:lvl1pPr algn="l">
              <a:defRPr u="none" strike="noStrike" kern="1200" cap="none" spc="0" normalizeH="0">
                <a:latin typeface="+mj-lt"/>
              </a:defRPr>
            </a:lvl1pPr>
          </a:lstStyle>
          <a:p>
            <a:pPr lvl="0" algn="l"/>
            <a:r>
              <a:rPr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CNN-LSTM Sign Language Recognition</a:t>
            </a:r>
            <a:endParaRPr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86080" y="1165860"/>
            <a:ext cx="8229600" cy="452596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flow: Conv1D(64) -&gt; BN -&gt; ReLU -&gt; MaxPool -&gt; Dropout.</a:t>
            </a:r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800"/>
            </a:pPr>
            <a: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 block: Conv1D(128) -&gt; BN -&gt; ReLU -&gt; MaxPool -&gt; Dropout.</a:t>
            </a:r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800"/>
            </a:pPr>
            <a: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modeling: LSTM(128, return_sequences=True) -&gt; LSTM(64).</a:t>
            </a:r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800"/>
            </a:pPr>
            <a: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Classifier: Dense(128, ReLU) -&gt; Dropout -&gt; Dense(8, Softmax).</a:t>
            </a:r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800"/>
            </a:pPr>
            <a: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Split strategy: train/validation/test with stratification and normalization.</a:t>
            </a:r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800"/>
            </a:pPr>
            <a: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Optimization: Adam(lr=1e-3), categorical crossentropy, early stopping, checkpointing, ReduceLROnPlateau.</a:t>
            </a:r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86080" y="760"/>
            <a:ext cx="8100000" cy="540000"/>
          </a:xfrm>
          <a:noFill/>
        </p:spPr>
        <p:txBody>
          <a:bodyPr vert="horz" wrap="square" lIns="36195" tIns="0" rIns="91440" bIns="0" rtlCol="0" anchor="b" anchorCtr="0">
            <a:normAutofit/>
          </a:bodyPr>
          <a:lstStyle>
            <a:lvl1pPr algn="l">
              <a:defRPr u="none" strike="noStrike" kern="1200" cap="none" spc="0" normalizeH="0">
                <a:latin typeface="+mj-lt"/>
              </a:defRPr>
            </a:lvl1pPr>
          </a:lstStyle>
          <a:p>
            <a:pPr lvl="0" algn="l"/>
            <a:r>
              <a:rPr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Architecture and Training Pipeline</a:t>
            </a:r>
            <a:endParaRPr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3" name="Picture 12" descr="Screenshot 2026-04-01 1641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080" y="3276600"/>
            <a:ext cx="3018790" cy="34391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7650" y="258570"/>
            <a:ext cx="8100000" cy="540000"/>
          </a:xfrm>
          <a:noFill/>
        </p:spPr>
        <p:txBody>
          <a:bodyPr vert="horz" wrap="square" lIns="36195" tIns="0" rIns="91440" bIns="0" rtlCol="0" anchor="b" anchorCtr="0">
            <a:normAutofit/>
          </a:bodyPr>
          <a:lstStyle>
            <a:lvl1pPr algn="l">
              <a:defRPr u="none" strike="noStrike" kern="1200" cap="none" spc="0" normalizeH="0">
                <a:latin typeface="+mj-lt"/>
              </a:defRPr>
            </a:lvl1pPr>
          </a:lstStyle>
          <a:p>
            <a:pPr lvl="0" algn="l"/>
            <a:r>
              <a:rPr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Results, Artifacts, and Conclusion</a:t>
            </a:r>
            <a:endParaRPr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47650" y="1194117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700"/>
            </a:pPr>
            <a: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Accuracy: 86.87% | Test AUC: 0.9926 | Test Loss: 0.5120</a:t>
            </a:r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700"/>
            </a:pPr>
            <a: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 Accuracy: 86.92% | Validation AUC: 0.9923</a:t>
            </a:r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700"/>
            </a:pPr>
            <a: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Observed confusion: class "Please" is mostly misclassified as "Hello" (data balancing/feature overlap risk).</a:t>
            </a:r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700"/>
            </a:pPr>
            <a: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Saved outputs in artifacts/: best model, final model, history.json, results.json.</a:t>
            </a:r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700"/>
            </a:pPr>
            <a: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Conclusion: CNN extracts local motion signatures while LSTM captures sequence context, giving strong baseline performance for SLR.</a:t>
            </a:r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700"/>
            </a:pPr>
            <a: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 generated on 2026-04-01 for project reporting.</a:t>
            </a:r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Screenshot 2026-04-01 1641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25" y="3626485"/>
            <a:ext cx="5895340" cy="31400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59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57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3.0"/>
  <p:tag name="KSO_WM_BEAUTIFY_FLAG" val="#wm#"/>
  <p:tag name="KSO_WM_TEMPLATE_CATEGORY" val="custom"/>
  <p:tag name="KSO_WM_TEMPLATE_INDEX" val="20233457"/>
</p:tagLst>
</file>

<file path=ppt/tags/tag74.xml><?xml version="1.0" encoding="utf-8"?>
<p:tagLst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57"/>
</p:tagLst>
</file>

<file path=ppt/tags/tag75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76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77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SLIDE_TYPE" val="text"/>
  <p:tag name="KSO_WM_BEAUTIFY_FLAG" val="#wm#"/>
  <p:tag name="KSO_WM_SLIDE_THEME_ID" val="3302484"/>
  <p:tag name="KSO_WM_SLIDE_THEME_NAME" val="Green Technology"/>
</p:tagLst>
</file>

<file path=ppt/tags/tag80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81.xml><?xml version="1.0" encoding="utf-8"?>
<p:tagLst xmlns:p="http://schemas.openxmlformats.org/presentationml/2006/main">
  <p:tag name="KSO_WM_UNIT_TEXT" val="CNN-LSTM Sign Language Recogni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2.xml><?xml version="1.0" encoding="utf-8"?>
<p:tagLst xmlns:p="http://schemas.openxmlformats.org/presentationml/2006/main">
  <p:tag name="KSO_WM_SLIDE_TYPE" val="text"/>
  <p:tag name="KSO_WM_BEAUTIFY_FLAG" val="#wm#"/>
</p:tagLst>
</file>

<file path=ppt/tags/tag83.xml><?xml version="1.0" encoding="utf-8"?>
<p:tagLst xmlns:p="http://schemas.openxmlformats.org/presentationml/2006/main">
  <p:tag name="KSO_WM_UNIT_TEXT" val="Architecture and Training Pipelin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4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85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64">
      <a:dk1>
        <a:srgbClr val="000000"/>
      </a:dk1>
      <a:lt1>
        <a:srgbClr val="FFFFFF"/>
      </a:lt1>
      <a:dk2>
        <a:srgbClr val="003E28"/>
      </a:dk2>
      <a:lt2>
        <a:srgbClr val="ECFEF8"/>
      </a:lt2>
      <a:accent1>
        <a:srgbClr val="47FFBC"/>
      </a:accent1>
      <a:accent2>
        <a:srgbClr val="51E8C9"/>
      </a:accent2>
      <a:accent3>
        <a:srgbClr val="5AD2D6"/>
      </a:accent3>
      <a:accent4>
        <a:srgbClr val="64BBE3"/>
      </a:accent4>
      <a:accent5>
        <a:srgbClr val="6DA5F0"/>
      </a:accent5>
      <a:accent6>
        <a:srgbClr val="778EFD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1396</Words>
  <Application>WPS Presentation</Application>
  <PresentationFormat>On-screen Show (4:3)</PresentationFormat>
  <Paragraphs>26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 Light</vt:lpstr>
      <vt:lpstr>Times New Roman</vt:lpstr>
      <vt:lpstr>Manrope ExtraBold</vt:lpstr>
      <vt:lpstr>Segoe Print</vt:lpstr>
      <vt:lpstr>Lato</vt:lpstr>
      <vt:lpstr>Office Theme</vt:lpstr>
      <vt:lpstr>1_Office Theme</vt:lpstr>
      <vt:lpstr>CNN-LSTM Sign Language Recognition</vt:lpstr>
      <vt:lpstr>Architecture and Training Pipeline</vt:lpstr>
      <vt:lpstr>Results, Artifacts, and 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Momen Tarek</cp:lastModifiedBy>
  <cp:revision>2</cp:revision>
  <dcterms:created xsi:type="dcterms:W3CDTF">2013-01-27T09:14:00Z</dcterms:created>
  <dcterms:modified xsi:type="dcterms:W3CDTF">2026-04-01T15:38:01Z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2C5FD0A745DE48CEAF8C015C1AD5278F_12</vt:lpwstr>
  </property>
</Properties>
</file>