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 lang="en-US" sz="1200" b="1" dirty="0">
              <a:solidFill>
                <a:srgbClr val="0D1B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Vanilla RNN — Forward Pass (Code Walkthrough)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937760" cy="3749040"/>
          </a:xfrm>
          <a:prstGeom prst="rect">
            <a:avLst/>
          </a:prstGeom>
          <a:solidFill>
            <a:srgbClr val="0A1E2E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9377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Times New Roman" panose="02020603050405020304" charset="0"/>
                <a:cs typeface="Times New Roman" panose="02020603050405020304" charset="0"/>
              </a:rPr>
              <a:t>python  |  rnn_forward.py</a:t>
            </a:r>
            <a:endParaRPr lang="en-US" sz="900" b="1" dirty="0">
              <a:solidFill>
                <a:srgbClr val="0D1B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66344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7A6A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# Weight matrices  (from lecture slides)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77F0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W_H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= np.array([[0.1,0.5,0.1],[0.5,0.9,0.3],[0.3,0.2,0.1]])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77F0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W_X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= np.array([[0.6,0.8,0.4,0.8], ...])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77F0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W_Y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= np.array([[0.9,0.8,0.3], ...])
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90E0E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h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= np.zeros(d)          # h₀ = 0
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t, char </a:t>
            </a:r>
            <a:r>
              <a:rPr lang="en-US" sz="1400" b="1" dirty="0">
                <a:solidFill>
                  <a:srgbClr val="00B4D8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enumerate(sequence, 1):
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   X  = one_hot(char, vocab)
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   a  = </a:t>
            </a:r>
            <a:r>
              <a:rPr lang="en-US" sz="1400" dirty="0">
                <a:solidFill>
                  <a:srgbClr val="F77F0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W_H @ h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+ </a:t>
            </a:r>
            <a:r>
              <a:rPr lang="en-US" sz="1400" dirty="0">
                <a:solidFill>
                  <a:srgbClr val="F77F0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W_X @ X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   h  = </a:t>
            </a:r>
            <a:r>
              <a:rPr lang="en-US" sz="1400" b="1" dirty="0">
                <a:solidFill>
                  <a:srgbClr val="06D6A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tanh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(a)
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    y  = </a:t>
            </a:r>
            <a:r>
              <a:rPr lang="en-US" sz="1400" b="1" dirty="0">
                <a:solidFill>
                  <a:srgbClr val="06D6A0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softmax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(W_Y @ h)</a:t>
            </a: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5394960" y="1051560"/>
            <a:ext cx="3474720" cy="1143000"/>
          </a:xfrm>
          <a:prstGeom prst="rect">
            <a:avLst/>
          </a:prstGeom>
          <a:solidFill>
            <a:srgbClr val="152030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5394960" y="1051560"/>
            <a:ext cx="10972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5577840" y="112471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imes New Roman" panose="02020603050405020304" charset="0"/>
                <a:cs typeface="Times New Roman" panose="02020603050405020304" charset="0"/>
              </a:rPr>
              <a:t>Input</a:t>
            </a:r>
            <a:endParaRPr lang="en-US" sz="1100" b="1" dirty="0">
              <a:solidFill>
                <a:srgbClr val="00B4D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5577840" y="1399032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One-hot vector  (k=4)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'd' → [1, 0, 0, 0]</a:t>
            </a:r>
            <a:endParaRPr lang="en-US" sz="1400" dirty="0">
              <a:solidFill>
                <a:srgbClr val="F0F4F8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>
            <p:custDataLst>
              <p:tags r:id="rId5"/>
            </p:custDataLst>
          </p:nvPr>
        </p:nvSpPr>
        <p:spPr>
          <a:xfrm>
            <a:off x="5394960" y="2350008"/>
            <a:ext cx="3474720" cy="1143000"/>
          </a:xfrm>
          <a:prstGeom prst="rect">
            <a:avLst/>
          </a:prstGeom>
          <a:solidFill>
            <a:srgbClr val="152030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6"/>
            </p:custDataLst>
          </p:nvPr>
        </p:nvSpPr>
        <p:spPr>
          <a:xfrm>
            <a:off x="5394960" y="2350008"/>
            <a:ext cx="109728" cy="11430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5577840" y="24231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7F00"/>
                </a:solidFill>
                <a:latin typeface="Times New Roman" panose="02020603050405020304" charset="0"/>
                <a:cs typeface="Times New Roman" panose="02020603050405020304" charset="0"/>
              </a:rPr>
              <a:t>Hidden</a:t>
            </a:r>
            <a:endParaRPr lang="en-US" sz="1100" b="1" dirty="0">
              <a:solidFill>
                <a:srgbClr val="F77F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5577840" y="269748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aₜ = Wₕ·hₜ₋₁ + Wₓ·Xₜ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hₜ = tanh(aₜ)  ∈ (−1, 1)</a:t>
            </a:r>
            <a:endParaRPr lang="en-US" sz="1400" dirty="0">
              <a:solidFill>
                <a:srgbClr val="F0F4F8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Shape 16"/>
          <p:cNvSpPr/>
          <p:nvPr>
            <p:custDataLst>
              <p:tags r:id="rId9"/>
            </p:custDataLst>
          </p:nvPr>
        </p:nvSpPr>
        <p:spPr>
          <a:xfrm>
            <a:off x="5394960" y="3648456"/>
            <a:ext cx="3474720" cy="1143000"/>
          </a:xfrm>
          <a:prstGeom prst="rect">
            <a:avLst/>
          </a:prstGeom>
          <a:solidFill>
            <a:srgbClr val="152030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5394960" y="3648456"/>
            <a:ext cx="109728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5577840" y="372160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Times New Roman" panose="02020603050405020304" charset="0"/>
                <a:cs typeface="Times New Roman" panose="02020603050405020304" charset="0"/>
              </a:rPr>
              <a:t>Output</a:t>
            </a:r>
            <a:endParaRPr lang="en-US" sz="1100" b="1" dirty="0">
              <a:solidFill>
                <a:srgbClr val="06D6A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5577840" y="3995928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yₜ = softmax(Wᵧ·hₜ)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E  = (ŷ − y)²</a:t>
            </a:r>
            <a:endParaRPr lang="en-US" sz="1400" dirty="0">
              <a:solidFill>
                <a:srgbClr val="F0F4F8"/>
              </a:solidFill>
              <a:latin typeface="Times New Roman" panose="02020603050405020304" charset="0"/>
              <a:ea typeface="Consolas" panose="020B0609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9AB0"/>
                </a:solidFill>
                <a:latin typeface="Times New Roman" panose="02020603050405020304" charset="0"/>
                <a:cs typeface="Times New Roman" panose="02020603050405020304" charset="0"/>
              </a:rPr>
              <a:t>Weight matrix Wₕ is reused at every time step</a:t>
            </a:r>
            <a:endParaRPr lang="en-US" sz="1600" i="1" dirty="0">
              <a:solidFill>
                <a:srgbClr val="8B9AB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502920" cy="50292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LSTM Forward Pass — The 4 Gates</a:t>
            </a:r>
            <a:endParaRPr lang="en-US" sz="20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74320" y="1005840"/>
            <a:ext cx="4206240" cy="1828800"/>
          </a:xfrm>
          <a:prstGeom prst="rect">
            <a:avLst/>
          </a:prstGeom>
          <a:solidFill>
            <a:srgbClr val="152030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274320" y="1005840"/>
            <a:ext cx="4206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365760" y="102412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Step 1 — Forget Gate  (Keep Gate)</a:t>
            </a:r>
            <a:endParaRPr lang="en-US" sz="105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384048" y="1353312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Fₜ = σ(Xₜ·Wxf + Hₜ₋₁·Whf + bf)</a:t>
            </a:r>
            <a:endParaRPr lang="en-US" sz="1400" dirty="0">
              <a:solidFill>
                <a:srgbClr val="FFFFF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384048" y="2029968"/>
            <a:ext cx="39776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8B9AB0"/>
                </a:solidFill>
              </a:rPr>
              <a:t>Decides what to erase from long memory C.  Values near 0 → forget, near 1 → keep.</a:t>
            </a:r>
            <a:endParaRPr lang="en-US" sz="1600" i="1" dirty="0">
              <a:solidFill>
                <a:srgbClr val="8B9AB0"/>
              </a:solidFill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4709160" y="1005840"/>
            <a:ext cx="4206240" cy="1828800"/>
          </a:xfrm>
          <a:prstGeom prst="rect">
            <a:avLst/>
          </a:prstGeom>
          <a:solidFill>
            <a:srgbClr val="152030"/>
          </a:solidFill>
          <a:ln w="1905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4709160" y="1005840"/>
            <a:ext cx="4206240" cy="29260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800600" y="102412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Step 2 — Input Gate  (Write Gate)</a:t>
            </a:r>
            <a:endParaRPr lang="en-US" sz="105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4818888" y="1353312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Iₜ = σ(Xₜ·Wxi + Hₜ₋₁·Whi + bi)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C̃ₜ = tanh(Xₜ·Wxc + Hₜ₋₁·Whc + bc)</a:t>
            </a:r>
            <a:endParaRPr lang="en-US" sz="1200" dirty="0">
              <a:solidFill>
                <a:srgbClr val="FFFFF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818888" y="2029968"/>
            <a:ext cx="39776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8B9AB0"/>
                </a:solidFill>
              </a:rPr>
              <a:t>Decides which new values to write into the cell state.</a:t>
            </a:r>
            <a:endParaRPr lang="en-US" sz="1600" i="1" dirty="0">
              <a:solidFill>
                <a:srgbClr val="8B9AB0"/>
              </a:solidFill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274320" y="3017520"/>
            <a:ext cx="4206240" cy="1828800"/>
          </a:xfrm>
          <a:prstGeom prst="rect">
            <a:avLst/>
          </a:prstGeom>
          <a:solidFill>
            <a:srgbClr val="152030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274320" y="3017520"/>
            <a:ext cx="420624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365760" y="303580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Step 3 — Cell Update  (Long Memory)</a:t>
            </a:r>
            <a:endParaRPr lang="en-US" sz="1050" dirty="0"/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384048" y="3364992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Cₜ = Fₜ ⊙ Cₜ₋₁  +  Iₜ ⊙ C̃ₜ</a:t>
            </a:r>
            <a:endParaRPr lang="en-US" sz="1600" dirty="0">
              <a:solidFill>
                <a:srgbClr val="FFFFF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384048" y="4041648"/>
            <a:ext cx="39776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8B9AB0"/>
                </a:solidFill>
              </a:rPr>
              <a:t>Additive update — gradients can flow back without vanishing.</a:t>
            </a:r>
            <a:endParaRPr lang="en-US" sz="1600" i="1" dirty="0">
              <a:solidFill>
                <a:srgbClr val="8B9AB0"/>
              </a:solidFill>
            </a:endParaRPr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4709160" y="3017520"/>
            <a:ext cx="4206240" cy="1828800"/>
          </a:xfrm>
          <a:prstGeom prst="rect">
            <a:avLst/>
          </a:prstGeom>
          <a:solidFill>
            <a:srgbClr val="152030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4709160" y="3017520"/>
            <a:ext cx="4206240" cy="2926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4800600" y="303580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Step 4 — Output Gate  (Read Gate)</a:t>
            </a:r>
            <a:endParaRPr lang="en-US" sz="105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4818888" y="3364992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Oₜ = σ(Xₜ·Wxo + Hₜ₋₁·Who + bo)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Hₜ = Oₜ ⊙ tanh(Cₜ)</a:t>
            </a:r>
            <a:endParaRPr lang="en-US" sz="1400" dirty="0">
              <a:solidFill>
                <a:srgbClr val="FFFFF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4818888" y="4041648"/>
            <a:ext cx="39776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8B9AB0"/>
                </a:solidFill>
              </a:rPr>
              <a:t>Reads from cell state → produces Hₜ (short memory / output).</a:t>
            </a:r>
            <a:endParaRPr lang="en-US" sz="1400" i="1" dirty="0">
              <a:solidFill>
                <a:srgbClr val="8B9AB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AB0"/>
                </a:solidFill>
              </a:rPr>
              <a:t>All gate activations (σ) output values between 0 and 1  |  tanh outputs between −1 and +1</a:t>
            </a:r>
            <a:endParaRPr lang="en-US" sz="1200" i="1" dirty="0">
              <a:solidFill>
                <a:srgbClr val="8B9AB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459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Output Analysis — Hₜ vs Cₜ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60520" cy="2834640"/>
          </a:xfrm>
          <a:prstGeom prst="rect">
            <a:avLst/>
          </a:prstGeom>
          <a:solidFill>
            <a:srgbClr val="152030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160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3977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Hₜ  —  Hidden State  (Short Memory)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393192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</a:rPr>
              <a:t>Formula:  Hₜ = Oₜ ⊙ tanh(Cₜ)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</a:rPr>
              <a:t>Range:  always between  −1  and  +1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</a:rPr>
              <a:t>Why?  tanh squashes to (−1,1);  Oₜ (sigmoid) in (0,1)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</a:rPr>
              <a:t>Role:  output at each time step  →  short-term signal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0E0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−0.2495   −0.1202   −0.0450   −0.0199 ]</a:t>
            </a:r>
            <a:endParaRPr lang="en-US" sz="1400" dirty="0">
              <a:solidFill>
                <a:srgbClr val="90E0E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60520" cy="2834640"/>
          </a:xfrm>
          <a:prstGeom prst="rect">
            <a:avLst/>
          </a:prstGeom>
          <a:solidFill>
            <a:srgbClr val="152030"/>
          </a:solidFill>
          <a:ln w="25400">
            <a:solidFill>
              <a:srgbClr val="F7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4160520" cy="34747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3977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Cₜ  —  Cell State  (Long Memory)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0" y="1426464"/>
            <a:ext cx="393192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</a:rPr>
              <a:t>Formula:  Cₜ = Fₜ ⊙ Cₜ₋₁  +  Iₜ ⊙ C̃ₜ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</a:rPr>
              <a:t>Range:  UNBOUNDED — can grow large or small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</a:rPr>
              <a:t>Why?  Additive update, no tanh wrapping Cₜ itself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</a:rPr>
              <a:t>Role:  long-term memory across many time steps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DBA7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−0.5170   −0.2121   −0.0856   −0.0353 ]</a:t>
            </a:r>
            <a:endParaRPr lang="en-US" sz="1400" dirty="0">
              <a:solidFill>
                <a:srgbClr val="FDBA74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3977640"/>
            <a:ext cx="859536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9776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427024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Hₜ  (Short Memory)</a:t>
            </a:r>
            <a:endParaRPr lang="en-US" sz="1200" b="1" dirty="0">
              <a:solidFill>
                <a:srgbClr val="00B4D8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59943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7F00"/>
                </a:solidFill>
              </a:rPr>
              <a:t>Cₜ  (Long Memory)</a:t>
            </a:r>
            <a:endParaRPr lang="en-US" sz="1200" b="1" dirty="0">
              <a:solidFill>
                <a:srgbClr val="F77F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45920" y="39776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9AB0"/>
                </a:solidFill>
              </a:rPr>
              <a:t>Bounded?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427024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✓  Yes,  (−1 to +1)</a:t>
            </a:r>
            <a:endParaRPr lang="en-US" sz="1200" dirty="0">
              <a:solidFill>
                <a:srgbClr val="F0F4F8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45920" y="459943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✗  No,  unbounded</a:t>
            </a:r>
            <a:endParaRPr lang="en-US" sz="1200" dirty="0">
              <a:solidFill>
                <a:srgbClr val="F0F4F8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931920" y="39776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9AB0"/>
                </a:solidFill>
              </a:rPr>
              <a:t>Activation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31920" y="427024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tanh  +  sigmoid</a:t>
            </a:r>
            <a:endParaRPr lang="en-US" sz="1200" dirty="0">
              <a:solidFill>
                <a:srgbClr val="F0F4F8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31920" y="459943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Additive  (no tanh)</a:t>
            </a:r>
            <a:endParaRPr lang="en-US" sz="1200" dirty="0">
              <a:solidFill>
                <a:srgbClr val="F0F4F8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17920" y="397764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9AB0"/>
                </a:solidFill>
              </a:rPr>
              <a:t>Purpose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4270248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Per-step output / signal</a:t>
            </a:r>
            <a:endParaRPr lang="en-US" sz="1200" dirty="0">
              <a:solidFill>
                <a:srgbClr val="F0F4F8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7920" y="4599432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</a:rPr>
              <a:t>Carry context long-range</a:t>
            </a:r>
            <a:endParaRPr lang="en-US" sz="1200" dirty="0">
              <a:solidFill>
                <a:srgbClr val="F0F4F8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4562856"/>
            <a:ext cx="8595360" cy="0"/>
          </a:xfrm>
          <a:prstGeom prst="line">
            <a:avLst/>
          </a:prstGeom>
          <a:noFill/>
          <a:ln w="12700">
            <a:solidFill>
              <a:srgbClr val="1E3A50"/>
            </a:solidFill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2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3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4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5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6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7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8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9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10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11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12.xml><?xml version="1.0" encoding="utf-8"?>
<p:tagLst xmlns:p="http://schemas.openxmlformats.org/presentationml/2006/main">
  <p:tag name="KSO_WM_DIAGRAM_VIRTUALLY_FRAME" val="{&quot;height&quot;:294.48,&quot;left&quot;:424.8,&quot;top&quot;:82.8,&quot;width&quot;:273.6}"/>
</p:tagLst>
</file>

<file path=ppt/tags/tag13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14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15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16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17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18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19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20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21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22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23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24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25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26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27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28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29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30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31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ags/tag32.xml><?xml version="1.0" encoding="utf-8"?>
<p:tagLst xmlns:p="http://schemas.openxmlformats.org/presentationml/2006/main">
  <p:tag name="KSO_WM_DIAGRAM_VIRTUALLY_FRAME" val="{&quot;height&quot;:302.4,&quot;left&quot;:21.6,&quot;top&quot;:79.2,&quot;width&quot;:68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1976</Words>
  <Application>WPS Presentation</Application>
  <PresentationFormat>On-screen Show (16:9)</PresentationFormat>
  <Paragraphs>108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SimSun</vt:lpstr>
      <vt:lpstr>Wingdings</vt:lpstr>
      <vt:lpstr>Consolas</vt:lpstr>
      <vt:lpstr>Consolas</vt:lpstr>
      <vt:lpstr>Consolas</vt:lpstr>
      <vt:lpstr>Calibri</vt:lpstr>
      <vt:lpstr>Microsoft YaHei</vt:lpstr>
      <vt:lpstr>Arial Unicode MS</vt:lpstr>
      <vt:lpstr>Bodoni MT Black</vt:lpstr>
      <vt:lpstr>Rockwell</vt:lpstr>
      <vt:lpstr>Times New Roman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RNN &amp; LSTM From Scratch</dc:title>
  <dc:creator>PptxGenJS</dc:creator>
  <dc:subject>PptxGenJS Presentation</dc:subject>
  <cp:lastModifiedBy>Momen Tarek</cp:lastModifiedBy>
  <cp:revision>2</cp:revision>
  <dcterms:created xsi:type="dcterms:W3CDTF">2026-03-08T22:58:00Z</dcterms:created>
  <dcterms:modified xsi:type="dcterms:W3CDTF">2026-03-08T23:01:02Z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F8838F7CAC44448ABA7C56CBC0B4D477_12</vt:lpwstr>
  </property>
  <property fmtid="{D5CDD505-2E9C-101B-9397-08002B2CF9AE}" pid="3" name="KSOProductBuildVer">
    <vt:lpwstr>1033-12.2.0.23196</vt:lpwstr>
  </property>
</Properties>
</file>